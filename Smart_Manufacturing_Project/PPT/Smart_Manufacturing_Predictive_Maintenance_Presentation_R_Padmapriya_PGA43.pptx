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27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777240"/>
            <a:ext cx="2240280" cy="292608"/>
          </a:xfrm>
          <a:prstGeom prst="round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2753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5D8C"/>
                </a:solidFill>
                <a:latin typeface="Aptos"/>
              </a:rPr>
              <a:t>SUPERVISED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33272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Smart Manufacturing
Equipment Failure Prediction
&amp; Maintenance Cost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03320"/>
            <a:ext cx="9966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1ED"/>
                </a:solidFill>
                <a:latin typeface="Aptos"/>
              </a:rPr>
              <a:t>Predictive maintenance using sensor data, risk scoring and actionable maintenance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983480"/>
            <a:ext cx="3977639" cy="841248"/>
          </a:xfrm>
          <a:prstGeom prst="roundRect">
            <a:avLst/>
          </a:prstGeom>
          <a:solidFill>
            <a:srgbClr val="1F3752"/>
          </a:solidFill>
          <a:ln>
            <a:solidFill>
              <a:srgbClr val="466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19379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R. Padmapriya | PGA43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55955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ACDDE"/>
                </a:solidFill>
                <a:latin typeface="Aptos"/>
              </a:rPr>
              <a:t>Project Presentation / Viva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559552"/>
            <a:ext cx="4663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BACDDE"/>
                </a:solidFill>
                <a:latin typeface="Aptos"/>
              </a:rPr>
              <a:t>AI4I 2020 Predictive Maintenance Dataset • 10,000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Business problem → ML prediction → risk-based 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43584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75D8C"/>
                </a:solidFill>
                <a:latin typeface="Aptos"/>
              </a:rP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2821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machine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243584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5827E"/>
                </a:solidFill>
                <a:latin typeface="Aptos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2821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original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243584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DC7E2A"/>
                </a:solidFill>
                <a:latin typeface="Aptos"/>
              </a:rPr>
              <a:t>3.4%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72821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failure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243584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39665"/>
                </a:solidFill>
                <a:latin typeface="Aptos"/>
              </a:rPr>
              <a:t>0.965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72821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final ROC-AUC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19" y="1243584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62F2F"/>
                </a:solidFill>
                <a:latin typeface="Aptos"/>
              </a:rPr>
              <a:t>0.859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1728216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final F1-score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606040"/>
            <a:ext cx="3474720" cy="20574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606040"/>
            <a:ext cx="64008" cy="2057400"/>
          </a:xfrm>
          <a:prstGeom prst="rect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2743200"/>
            <a:ext cx="3154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090672"/>
            <a:ext cx="31546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Predict machine failure from operating conditions before failure occurs, so maintenance can move from reactive to proactive.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606040"/>
            <a:ext cx="3474720" cy="20574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2606040"/>
            <a:ext cx="64008" cy="2057400"/>
          </a:xfrm>
          <a:prstGeom prst="rect">
            <a:avLst/>
          </a:prstGeom>
          <a:solidFill>
            <a:srgbClr val="27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2743200"/>
            <a:ext cx="3154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090672"/>
            <a:ext cx="31546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Build a leakage-safe supervised classification pipeline using Logistic Regression, Random Forest and XGBoost.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606040"/>
            <a:ext cx="3474720" cy="20574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606040"/>
            <a:ext cx="64008" cy="2057400"/>
          </a:xfrm>
          <a:prstGeom prst="rect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2743200"/>
            <a:ext cx="3154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Business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090672"/>
            <a:ext cx="31546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Failure probability → risk level → health score → maintenance recommendation, ready for dashboard use.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63F"/>
                </a:solidFill>
                <a:latin typeface="Aptos"/>
              </a:rPr>
              <a:t>Key result: Random Forest was selected using F1 first, then ROC-AUC, and the tuned pipeline became the final production model.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78992"/>
            <a:ext cx="1600200" cy="292608"/>
          </a:xfrm>
          <a:prstGeom prst="round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29284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5D8C"/>
                </a:solidFill>
                <a:latin typeface="Aptos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5166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63F"/>
                </a:solidFill>
                <a:latin typeface="Aptos"/>
              </a:rPr>
              <a:t>Manufacturing machines operate continuously. Unexpected failures can cause downtime, emergency repair and higher maintenance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Use sensor readings to predict failure before it happens.</a:t>
            </a:r>
          </a:p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Handle the rare-failure class without relying on misleading accuracy alone.</a:t>
            </a:r>
          </a:p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Identify the operating variables that drive predictions.</a:t>
            </a:r>
          </a:p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Translate model probability into practical maintenance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78992"/>
            <a:ext cx="1325880" cy="292608"/>
          </a:xfrm>
          <a:prstGeom prst="round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2928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5D8C"/>
                </a:solidFill>
                <a:latin typeface="Aptos"/>
              </a:rPr>
              <a:t>PROJECT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480560" cy="475488"/>
          </a:xfrm>
          <a:prstGeom prst="roundRect">
            <a:avLst/>
          </a:prstGeom>
          <a:solidFill>
            <a:srgbClr val="F5F8FB"/>
          </a:solidFill>
          <a:ln>
            <a:solidFill>
              <a:srgbClr val="27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7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F"/>
                </a:solidFill>
                <a:latin typeface="Aptos"/>
              </a:rPr>
              <a:t>Sensor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2029967"/>
            <a:ext cx="0" cy="237745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2267712"/>
            <a:ext cx="4480560" cy="475488"/>
          </a:xfrm>
          <a:prstGeom prst="roundRect">
            <a:avLst/>
          </a:prstGeom>
          <a:solidFill>
            <a:srgbClr val="F5F8FB"/>
          </a:solidFill>
          <a:ln>
            <a:solidFill>
              <a:srgbClr val="35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40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F"/>
                </a:solidFill>
                <a:latin typeface="Aptos"/>
              </a:rPr>
              <a:t>Clean &amp; select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2743200"/>
            <a:ext cx="0" cy="237744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2980944"/>
            <a:ext cx="4480560" cy="475488"/>
          </a:xfrm>
          <a:prstGeom prst="roundRect">
            <a:avLst/>
          </a:prstGeom>
          <a:solidFill>
            <a:srgbClr val="F5F8FB"/>
          </a:solidFill>
          <a:ln>
            <a:solidFill>
              <a:srgbClr val="539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090672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F"/>
                </a:solidFill>
                <a:latin typeface="Aptos"/>
              </a:rPr>
              <a:t>Engineer 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80" y="3456432"/>
            <a:ext cx="0" cy="237744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3694176"/>
            <a:ext cx="4480560" cy="475488"/>
          </a:xfrm>
          <a:prstGeom prst="roundRect">
            <a:avLst/>
          </a:prstGeom>
          <a:solidFill>
            <a:srgbClr val="F5F8FB"/>
          </a:solidFill>
          <a:ln>
            <a:solidFill>
              <a:srgbClr val="DC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03904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F"/>
                </a:solidFill>
                <a:latin typeface="Aptos"/>
              </a:rPr>
              <a:t>Train models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41080" y="4169664"/>
            <a:ext cx="0" cy="237744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4407408"/>
            <a:ext cx="4480560" cy="475488"/>
          </a:xfrm>
          <a:prstGeom prst="roundRect">
            <a:avLst/>
          </a:prstGeom>
          <a:solidFill>
            <a:srgbClr val="F5F8FB"/>
          </a:solidFill>
          <a:ln>
            <a:solidFill>
              <a:srgbClr val="96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517136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F"/>
                </a:solidFill>
                <a:latin typeface="Aptos"/>
              </a:rPr>
              <a:t>Predict risk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1080" y="4882896"/>
            <a:ext cx="0" cy="237744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0" y="5120640"/>
            <a:ext cx="4480560" cy="475488"/>
          </a:xfrm>
          <a:prstGeom prst="roundRect">
            <a:avLst/>
          </a:prstGeom>
          <a:solidFill>
            <a:srgbClr val="F5F8FB"/>
          </a:solidFill>
          <a:ln>
            <a:solidFill>
              <a:srgbClr val="27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230368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F"/>
                </a:solidFill>
                <a:latin typeface="Aptos"/>
              </a:rPr>
              <a:t>Maintain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AI4I 2020 Predictive Maintenance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155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1615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75D8C"/>
                </a:solidFill>
                <a:latin typeface="Aptos"/>
              </a:rPr>
              <a:t>9,661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no-failure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1155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21615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62F2F"/>
                </a:solidFill>
                <a:latin typeface="Aptos"/>
              </a:rPr>
              <a:t>339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70078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failure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155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21615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5827E"/>
                </a:solidFill>
                <a:latin typeface="Aptos"/>
              </a:rPr>
              <a:t>80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70078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stratified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1155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21615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39665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70078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missing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11155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1216152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DC7E2A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170078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duplicate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39572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63F"/>
                </a:solidFill>
                <a:latin typeface="Aptos"/>
              </a:rPr>
              <a:t>Important preprocessing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834640"/>
            <a:ext cx="5074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UDI and Product ID were removed because they are identifiers, not generalizable predictors.</a:t>
            </a:r>
          </a:p>
          <a:p>
            <a:pPr>
              <a:spcAft>
                <a:spcPts val="8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TWF, HDF, PWF, OSF and RNF were excluded from modelling to prevent target leakage.</a:t>
            </a:r>
          </a:p>
          <a:p>
            <a:pPr>
              <a:spcAft>
                <a:spcPts val="8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Outliers were investigated with IQR and retained because they represent plausible extreme operating conditions.</a:t>
            </a:r>
          </a:p>
          <a:p>
            <a:pPr>
              <a:spcAft>
                <a:spcPts val="8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Type was retained and one-hot encoded.</a:t>
            </a:r>
          </a:p>
        </p:txBody>
      </p:sp>
      <p:pic>
        <p:nvPicPr>
          <p:cNvPr id="23" name="Picture 22" descr="03_typ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49370"/>
            <a:ext cx="5623560" cy="20792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72200" y="507492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57382"/>
                </a:solidFill>
                <a:latin typeface="Aptos"/>
              </a:rPr>
              <a:t>Machine type distribution and failure rate by 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What the sensor data tells us before modelling</a:t>
            </a:r>
          </a:p>
        </p:txBody>
      </p:sp>
      <p:pic>
        <p:nvPicPr>
          <p:cNvPr id="6" name="Picture 5" descr="04_bivariat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45180"/>
            <a:ext cx="6629400" cy="50876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170432"/>
            <a:ext cx="4343400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170432"/>
            <a:ext cx="64008" cy="1417320"/>
          </a:xfrm>
          <a:prstGeom prst="rect">
            <a:avLst/>
          </a:prstGeom>
          <a:solidFill>
            <a:srgbClr val="96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30759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Failure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655064"/>
            <a:ext cx="4023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Failure cases cluster at higher torque and higher tool wear.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743200"/>
            <a:ext cx="4343400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743200"/>
            <a:ext cx="64008" cy="1417320"/>
          </a:xfrm>
          <a:prstGeom prst="rect">
            <a:avLst/>
          </a:prstGeom>
          <a:solidFill>
            <a:srgbClr val="27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28803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Mechanical relationship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227832"/>
            <a:ext cx="4023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Rotational speed and torque show a strong inverse relationship; extreme combinations can indicate overload.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315968"/>
            <a:ext cx="4343400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315968"/>
            <a:ext cx="64008" cy="1417320"/>
          </a:xfrm>
          <a:prstGeom prst="rect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445312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Temperature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800600"/>
            <a:ext cx="4023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Air and process temperature are tightly related, motivating a temperature-difference feature.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Correlation &amp;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Multivariate relationships and exploratory failure context</a:t>
            </a:r>
          </a:p>
        </p:txBody>
      </p:sp>
      <p:pic>
        <p:nvPicPr>
          <p:cNvPr id="6" name="Picture 5" descr="0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26082"/>
            <a:ext cx="4937760" cy="4322371"/>
          </a:xfrm>
          <a:prstGeom prst="rect">
            <a:avLst/>
          </a:prstGeom>
        </p:spPr>
      </p:pic>
      <p:pic>
        <p:nvPicPr>
          <p:cNvPr id="7" name="Picture 6" descr="07_failure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957" y="1078992"/>
            <a:ext cx="6074525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5961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63F"/>
                </a:solidFill>
                <a:latin typeface="Aptos"/>
              </a:rPr>
              <a:t>Correlation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16168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03C"/>
                </a:solidFill>
                <a:latin typeface="Aptos"/>
              </a:rPr>
              <a:t>Air ↔ Process temperature: 0.88  |  Rotational speed ↔ Torque: −0.88  |  Failure association is strongest with Torque and Tool wear.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4645152"/>
            <a:ext cx="5486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63F"/>
                </a:solidFill>
                <a:latin typeface="Aptos"/>
              </a:rPr>
              <a:t>Failure-mode counts are exploratory only. These post-failure flags are not model inputs because using them would leak the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Feature Engineering &amp;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429000" cy="155448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1554480"/>
          </a:xfrm>
          <a:prstGeom prst="rect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801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Temperature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27632"/>
            <a:ext cx="31089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Process temperature − Air temperature. Captures heat build-up beyond ambient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80360"/>
            <a:ext cx="3429000" cy="155448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64008" cy="1554480"/>
          </a:xfrm>
          <a:prstGeom prst="rect">
            <a:avLst/>
          </a:prstGeom>
          <a:solidFill>
            <a:srgbClr val="27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017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364991"/>
            <a:ext cx="310896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Torque × angular speed, converted to Watts. Represents mechanical load more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617720"/>
            <a:ext cx="3429000" cy="11430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617720"/>
            <a:ext cx="64008" cy="1143000"/>
          </a:xfrm>
          <a:prstGeom prst="rect">
            <a:avLst/>
          </a:prstGeom>
          <a:solidFill>
            <a:srgbClr val="DC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7548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Tool wear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10235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Low / Medium / High bands used for business-facing interpretation.</a:t>
            </a:r>
          </a:p>
        </p:txBody>
      </p:sp>
      <p:pic>
        <p:nvPicPr>
          <p:cNvPr id="17" name="Picture 16" descr="08_engineered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02082"/>
            <a:ext cx="7269480" cy="26878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17720" y="418795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63F"/>
                </a:solidFill>
                <a:latin typeface="Aptos"/>
              </a:rPr>
              <a:t>Preprocessing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617720"/>
            <a:ext cx="137160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27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82803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63F"/>
                </a:solidFill>
                <a:latin typeface="Aptos"/>
              </a:rPr>
              <a:t>Numeric
features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5029200"/>
            <a:ext cx="365760" cy="0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4617720"/>
            <a:ext cx="137160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358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82803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63F"/>
                </a:solidFill>
                <a:latin typeface="Aptos"/>
              </a:rPr>
              <a:t>StandardScaler
(Logistic)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0" y="5029200"/>
            <a:ext cx="365760" cy="0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46720" y="4617720"/>
            <a:ext cx="137160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539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82803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63F"/>
                </a:solidFill>
                <a:latin typeface="Aptos"/>
              </a:rPr>
              <a:t>One-Hot
Type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5029200"/>
            <a:ext cx="365760" cy="0"/>
          </a:xfrm>
          <a:prstGeom prst="line">
            <a:avLst/>
          </a:prstGeom>
          <a:ln w="19050">
            <a:solidFill>
              <a:srgbClr val="65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4617720"/>
            <a:ext cx="137160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C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482803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63F"/>
                </a:solidFill>
                <a:latin typeface="Aptos"/>
              </a:rPr>
              <a:t>Classifier
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65099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57382"/>
                </a:solidFill>
                <a:latin typeface="Aptos"/>
              </a:rPr>
              <a:t>Tree models use the same feature engineering and encoding, but do not require scaling.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Model Building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Three supervised binary-classification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29000" cy="18288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64008" cy="1828800"/>
          </a:xfrm>
          <a:prstGeom prst="rect">
            <a:avLst/>
          </a:prstGeom>
          <a:solidFill>
            <a:srgbClr val="27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1731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03C"/>
                </a:solidFill>
                <a:latin typeface="Aptos"/>
              </a:rPr>
              <a:t>Linear baseline
Scaled numeric features
class_weight='balanced'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29000" cy="18288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64008" cy="1828800"/>
          </a:xfrm>
          <a:prstGeom prst="rect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1731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03C"/>
                </a:solidFill>
                <a:latin typeface="Aptos"/>
              </a:rPr>
              <a:t>Non-linear ensemble
300 trees baseline
class_weight='balanced'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429000" cy="18288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64008" cy="1828800"/>
          </a:xfrm>
          <a:prstGeom prst="rect">
            <a:avLst/>
          </a:prstGeom>
          <a:solidFill>
            <a:srgbClr val="DC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41731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03C"/>
                </a:solidFill>
                <a:latin typeface="Aptos"/>
              </a:rPr>
              <a:t>Gradient boosting
300 estimators baseline
scale_pos_weight for imbalance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63F"/>
                </a:solidFill>
                <a:latin typeface="Aptos"/>
              </a:rPr>
              <a:t>Evaluation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77639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Stratified 80/20 train-test split to preserve the rare-failure ratio.</a:t>
            </a:r>
          </a:p>
          <a:p>
            <a:pPr>
              <a:spcAft>
                <a:spcPts val="7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Compare Accuracy, Precision, Recall, F1 and ROC-AUC.</a:t>
            </a:r>
          </a:p>
          <a:p>
            <a:pPr>
              <a:spcAft>
                <a:spcPts val="7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Prioritize Recall / F1 / ROC-AUC because the positive class is only ~3.4%.</a:t>
            </a:r>
          </a:p>
          <a:p>
            <a:pPr>
              <a:spcAft>
                <a:spcPts val="7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Use 5-fold stratified cross-validation for the selected candidate.</a:t>
            </a:r>
          </a:p>
          <a:p>
            <a:pPr>
              <a:spcAft>
                <a:spcPts val="700"/>
              </a:spcAft>
              <a:defRPr sz="1400">
                <a:solidFill>
                  <a:srgbClr val="26303C"/>
                </a:solidFill>
                <a:latin typeface="Aptos"/>
              </a:defRPr>
            </a:pPr>
            <a:r>
              <a:t>• Tune hyperparameters with RandomizedSearchCV using F1 as the scoring metric.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Test-set comparison and ROC curves</a:t>
            </a:r>
          </a:p>
        </p:txBody>
      </p:sp>
      <p:pic>
        <p:nvPicPr>
          <p:cNvPr id="6" name="Picture 5" descr="0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04" y="1078992"/>
            <a:ext cx="1079483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623560"/>
            <a:ext cx="10835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63F"/>
                </a:solidFill>
                <a:latin typeface="Aptos"/>
              </a:rPr>
              <a:t>Random Forest achieved the strongest overall balance: Accuracy 99.10%, Precision 91.67%, Recall 80.88%, F1 85.94%, ROC-AUC 0.9699.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Final Model: Tuned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Selected by F1 first, then ROC-AUC; validated on the untouched test set</a:t>
            </a:r>
          </a:p>
        </p:txBody>
      </p:sp>
      <p:pic>
        <p:nvPicPr>
          <p:cNvPr id="6" name="Picture 5" descr="11_fin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512916"/>
            <a:ext cx="4114800" cy="37407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83480" y="123444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33502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75D8C"/>
                </a:solidFill>
                <a:latin typeface="Aptos"/>
              </a:rPr>
              <a:t>99.10%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965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23444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33502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5827E"/>
                </a:solidFill>
                <a:latin typeface="Aptos"/>
              </a:rPr>
              <a:t>91.67%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1965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23444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33502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39665"/>
                </a:solidFill>
                <a:latin typeface="Aptos"/>
              </a:rPr>
              <a:t>80.88%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81965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25146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61518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DC7E2A"/>
                </a:solidFill>
                <a:latin typeface="Aptos"/>
              </a:rPr>
              <a:t>85.94%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9981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F1-score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5146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261518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62F2F"/>
                </a:solidFill>
                <a:latin typeface="Aptos"/>
              </a:rPr>
              <a:t>0.965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09981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ROC-AUC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514600"/>
            <a:ext cx="1828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61518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75D8C"/>
                </a:solidFill>
                <a:latin typeface="Aptos"/>
              </a:rPr>
              <a:t>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09981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82"/>
                </a:solidFill>
                <a:latin typeface="Aptos"/>
              </a:rPr>
              <a:t>test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886200"/>
            <a:ext cx="5852160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3886200"/>
            <a:ext cx="64008" cy="1417320"/>
          </a:xfrm>
          <a:prstGeom prst="rect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4023360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Confusion matrix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4370832"/>
            <a:ext cx="5532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1,927 true negatives • 55 true positives • 13 false negatives • 5 false positives. The model detects most failures while keeping false alarms 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5468112"/>
            <a:ext cx="5852160" cy="6858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5468112"/>
            <a:ext cx="64008" cy="685800"/>
          </a:xfrm>
          <a:prstGeom prst="rect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84648" y="5605272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263F"/>
                </a:solidFill>
                <a:latin typeface="Aptos"/>
              </a:rPr>
              <a:t>Tuning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5952744"/>
            <a:ext cx="553212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Best parameters: 200 trees, unrestricted depth, min_samples_split=2, min_samples_leaf=1.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What Drives the Predictions?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Random Forest feature importance from the final pipeline</a:t>
            </a:r>
          </a:p>
        </p:txBody>
      </p:sp>
      <p:pic>
        <p:nvPicPr>
          <p:cNvPr id="6" name="Picture 5" descr="1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4708"/>
            <a:ext cx="6720839" cy="41686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2801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63F"/>
                </a:solidFill>
                <a:latin typeface="Aptos"/>
              </a:rPr>
              <a:t>Top predictive signals</a:t>
            </a:r>
          </a:p>
        </p:txBody>
      </p:sp>
      <p:sp>
        <p:nvSpPr>
          <p:cNvPr id="8" name="Oval 7"/>
          <p:cNvSpPr/>
          <p:nvPr/>
        </p:nvSpPr>
        <p:spPr>
          <a:xfrm>
            <a:off x="7543800" y="1828800"/>
            <a:ext cx="384048" cy="384048"/>
          </a:xfrm>
          <a:prstGeom prst="ellipse">
            <a:avLst/>
          </a:prstGeom>
          <a:solidFill>
            <a:srgbClr val="27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892807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1965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63F"/>
                </a:solidFill>
                <a:latin typeface="Aptos"/>
              </a:rPr>
              <a:t>Rotational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1819656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657382"/>
                </a:solidFill>
                <a:latin typeface="Aptos"/>
              </a:rPr>
              <a:t>0.2216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2578608"/>
            <a:ext cx="384048" cy="384048"/>
          </a:xfrm>
          <a:prstGeom prst="ellipse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642615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69464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63F"/>
                </a:solidFill>
                <a:latin typeface="Aptos"/>
              </a:rPr>
              <a:t>Tool wear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256946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657382"/>
                </a:solidFill>
                <a:latin typeface="Aptos"/>
              </a:rPr>
              <a:t>0.2195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3328415"/>
            <a:ext cx="384048" cy="384048"/>
          </a:xfrm>
          <a:prstGeom prst="ellipse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392423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3192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63F"/>
                </a:solidFill>
                <a:latin typeface="Aptos"/>
              </a:rPr>
              <a:t>Torque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331927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657382"/>
                </a:solidFill>
                <a:latin typeface="Aptos"/>
              </a:rPr>
              <a:t>0.1955</a:t>
            </a:r>
          </a:p>
        </p:txBody>
      </p:sp>
      <p:sp>
        <p:nvSpPr>
          <p:cNvPr id="20" name="Oval 19"/>
          <p:cNvSpPr/>
          <p:nvPr/>
        </p:nvSpPr>
        <p:spPr>
          <a:xfrm>
            <a:off x="7543800" y="4078224"/>
            <a:ext cx="384048" cy="384048"/>
          </a:xfrm>
          <a:prstGeom prst="ellipse">
            <a:avLst/>
          </a:prstGeom>
          <a:solidFill>
            <a:srgbClr val="DC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4142232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06908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63F"/>
                </a:solidFill>
                <a:latin typeface="Aptos"/>
              </a:rPr>
              <a:t>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40690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657382"/>
                </a:solidFill>
                <a:latin typeface="Aptos"/>
              </a:rPr>
              <a:t>0.1907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5074920"/>
            <a:ext cx="3886200" cy="86868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5074920"/>
            <a:ext cx="64008" cy="868680"/>
          </a:xfrm>
          <a:prstGeom prst="rect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52120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263F"/>
                </a:solidFill>
                <a:latin typeface="Aptos"/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5559552"/>
            <a:ext cx="3566160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6303C"/>
                </a:solidFill>
                <a:latin typeface="Aptos"/>
              </a:rPr>
              <a:t>Mechanical load and tool condition dominate the model's learned signal; engineered Power is also highly influential.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Inference: From Probability to Maintenance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A production-style batch of 25 unseen machine observations</a:t>
            </a:r>
          </a:p>
        </p:txBody>
      </p:sp>
      <p:pic>
        <p:nvPicPr>
          <p:cNvPr id="6" name="Picture 5" descr="13_risk_lev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3899"/>
            <a:ext cx="5943599" cy="37901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1234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63F"/>
                </a:solidFill>
                <a:latin typeface="Aptos"/>
              </a:rPr>
              <a:t>Business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83080"/>
            <a:ext cx="461772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539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4767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39665"/>
                </a:solidFill>
                <a:latin typeface="Aptos"/>
              </a:rPr>
              <a:t>0–30%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9476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F"/>
                </a:solidFill>
                <a:latin typeface="Aptos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947672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Continue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587752"/>
            <a:ext cx="461772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DC7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752344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C7E2A"/>
                </a:solidFill>
                <a:latin typeface="Aptos"/>
              </a:rPr>
              <a:t>30–60%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75234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F"/>
                </a:solidFill>
                <a:latin typeface="Aptos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75234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Schedule inspection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392424"/>
            <a:ext cx="461772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96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557016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2F2F"/>
                </a:solidFill>
                <a:latin typeface="Aptos"/>
              </a:rPr>
              <a:t>60–80%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55701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F"/>
                </a:solidFill>
                <a:latin typeface="Apto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55701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Schedule preventive maintenance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4197096"/>
            <a:ext cx="461772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96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361688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62F2F"/>
                </a:solidFill>
                <a:latin typeface="Aptos"/>
              </a:rPr>
              <a:t>80–100%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3616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63F"/>
                </a:solidFill>
                <a:latin typeface="Apto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36168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6303C"/>
                </a:solidFill>
                <a:latin typeface="Aptos"/>
              </a:rPr>
              <a:t>Prioritize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21208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63F"/>
                </a:solidFill>
                <a:latin typeface="Aptos"/>
              </a:rPr>
              <a:t>Health Score = 100 − Failure Probability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5440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63F"/>
                </a:solidFill>
                <a:latin typeface="Aptos"/>
              </a:rPr>
              <a:t>In the sample inference batch, 2 machines were High/Critical risk; both were Critical.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Business Impact: Maintenance Cost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Illustrative impact using explicitly documented assumptions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429000" cy="16459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64008" cy="1645920"/>
          </a:xfrm>
          <a:prstGeom prst="rect">
            <a:avLst/>
          </a:prstGeom>
          <a:solidFill>
            <a:srgbClr val="96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801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Emergency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03C"/>
                </a:solidFill>
                <a:latin typeface="Aptos"/>
              </a:rPr>
              <a:t>Assumed emergency repair = 50,000 units
Assumed downtime = 6 hours
Assumed downtime cost = 5,000/hour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63240"/>
            <a:ext cx="3429000" cy="150876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063240"/>
            <a:ext cx="64008" cy="1508760"/>
          </a:xfrm>
          <a:prstGeom prst="rect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2004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63F"/>
                </a:solidFill>
                <a:latin typeface="Aptos"/>
              </a:rPr>
              <a:t>Preventive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547872"/>
            <a:ext cx="31089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Assumed preventive maintenance = 12,000 units per high/critical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846320"/>
            <a:ext cx="3429000" cy="100584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846320"/>
            <a:ext cx="64008" cy="1005840"/>
          </a:xfrm>
          <a:prstGeom prst="rect">
            <a:avLst/>
          </a:prstGeom>
          <a:solidFill>
            <a:srgbClr val="DC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9834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63F"/>
                </a:solidFill>
                <a:latin typeface="Aptos"/>
              </a:rPr>
              <a:t>Important caveat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33095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6303C"/>
                </a:solidFill>
                <a:latin typeface="Aptos"/>
              </a:rPr>
              <a:t>These are estimates, not audited real-world savings. Replace with actual finance and maintenance records before budgeting.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2344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63F"/>
                </a:solidFill>
                <a:latin typeface="Aptos"/>
              </a:rPr>
              <a:t>Estimated cost for the 2 high/critical machines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7373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6303C"/>
                </a:solidFill>
                <a:latin typeface="Aptos"/>
              </a:rPr>
              <a:t>If left until emergency failure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057400"/>
            <a:ext cx="5852160" cy="685800"/>
          </a:xfrm>
          <a:prstGeom prst="roundRect">
            <a:avLst/>
          </a:prstGeom>
          <a:solidFill>
            <a:srgbClr val="96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222199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63F"/>
                </a:solidFill>
                <a:latin typeface="Aptos"/>
              </a:rPr>
              <a:t>160,000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15467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6303C"/>
                </a:solidFill>
                <a:latin typeface="Aptos"/>
              </a:rPr>
              <a:t>If addressed preventively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3474720"/>
            <a:ext cx="877824" cy="685800"/>
          </a:xfrm>
          <a:prstGeom prst="roundRect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7024" y="3639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63F"/>
                </a:solidFill>
                <a:latin typeface="Aptos"/>
              </a:rPr>
              <a:t>24,000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37760"/>
            <a:ext cx="6309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263F"/>
                </a:solidFill>
                <a:latin typeface="Aptos"/>
              </a:rPr>
              <a:t>Estimated potential saving: 136,000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559552"/>
            <a:ext cx="6537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657382"/>
                </a:solidFill>
                <a:latin typeface="Aptos"/>
              </a:rPr>
              <a:t>The model therefore supports a business workflow: identify high-risk machines early and prioritize preventive 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63F"/>
                </a:solidFill>
                <a:latin typeface="Aptos Display"/>
              </a:rPr>
              <a:t>Project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029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57382"/>
                </a:solidFill>
                <a:latin typeface="Aptos"/>
              </a:rPr>
              <a:t>From raw sensor readings to an actionable predictive-maintenance workflow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143000"/>
            <a:ext cx="566928" cy="566928"/>
          </a:xfrm>
          <a:prstGeom prst="ellipse">
            <a:avLst/>
          </a:prstGeom>
          <a:solidFill>
            <a:srgbClr val="27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1247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Leakage-safe modelling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06424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6303C"/>
                </a:solidFill>
                <a:latin typeface="Aptos"/>
              </a:rPr>
              <a:t>Post-failure mode flags were excluded from model inputs; identifiers were removed.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86000"/>
            <a:ext cx="566928" cy="566928"/>
          </a:xfrm>
          <a:prstGeom prst="ellipse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677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Strong final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9424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6303C"/>
                </a:solidFill>
                <a:latin typeface="Aptos"/>
              </a:rPr>
              <a:t>Random Forest reached 99.10% accuracy, 85.94% F1 and 0.965 ROC-AUC on the test set.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29000"/>
            <a:ext cx="566928" cy="566928"/>
          </a:xfrm>
          <a:prstGeom prst="ellipse">
            <a:avLst/>
          </a:prstGeom>
          <a:solidFill>
            <a:srgbClr val="539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84448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07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Explainable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92424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6303C"/>
                </a:solidFill>
                <a:latin typeface="Aptos"/>
              </a:rPr>
              <a:t>Rotational speed, tool wear, torque and power were the most influential features.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572000"/>
            <a:ext cx="566928" cy="566928"/>
          </a:xfrm>
          <a:prstGeom prst="ellipse">
            <a:avLst/>
          </a:prstGeom>
          <a:solidFill>
            <a:srgbClr val="DC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27448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537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63F"/>
                </a:solidFill>
                <a:latin typeface="Aptos"/>
              </a:rPr>
              <a:t>Business-ready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35424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6303C"/>
                </a:solidFill>
                <a:latin typeface="Aptos"/>
              </a:rPr>
              <a:t>Predictions become probability, risk, health score and maintenance recommendation.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623560"/>
            <a:ext cx="10332720" cy="594360"/>
          </a:xfrm>
          <a:prstGeom prst="round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788152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Overall takeaway: Predict failure early → prioritize maintenance → reduce avoidable operational disruption.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AAB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196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AAB4BF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0138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B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D2E0EE"/>
                </a:solidFill>
                <a:latin typeface="Aptos"/>
              </a:rPr>
              <a:t>Smart Manufacturing Equipment Failure Prediction &amp; Maintenance Cost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5827E"/>
                </a:solidFill>
                <a:latin typeface="Aptos"/>
              </a:rPr>
              <a:t>R. Padmapriya | PGA43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CCDDD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5257800"/>
            <a:ext cx="2194560" cy="54864"/>
          </a:xfrm>
          <a:prstGeom prst="rect">
            <a:avLst/>
          </a:prstGeom>
          <a:solidFill>
            <a:srgbClr val="35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